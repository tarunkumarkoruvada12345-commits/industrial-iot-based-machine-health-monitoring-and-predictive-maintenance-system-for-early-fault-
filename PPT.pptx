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DM Sans SemiBold" panose="020B0604020202020204" charset="0"/>
      <p:regular r:id="rId13"/>
    </p:embeddedFont>
    <p:embeddedFont>
      <p:font typeface="Inter Bold" panose="020B0604020202020204" charset="0"/>
      <p:regular r:id="rId14"/>
    </p:embeddedFont>
    <p:embeddedFont>
      <p:font typeface="Inter Medium" panose="020B0604020202020204" charset="0"/>
      <p:regular r:id="rId15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2" d="100"/>
          <a:sy n="82" d="100"/>
        </p:scale>
        <p:origin x="69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06607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5F5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9.svg"/><Relationship Id="rId10" Type="http://schemas.openxmlformats.org/officeDocument/2006/relationships/image" Target="../media/image14.svg"/><Relationship Id="rId4" Type="http://schemas.openxmlformats.org/officeDocument/2006/relationships/image" Target="../media/image8.svg"/><Relationship Id="rId9" Type="http://schemas.openxmlformats.org/officeDocument/2006/relationships/image" Target="../media/image13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svg"/><Relationship Id="rId7" Type="http://schemas.openxmlformats.org/officeDocument/2006/relationships/image" Target="../media/image24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svg"/><Relationship Id="rId5" Type="http://schemas.openxmlformats.org/officeDocument/2006/relationships/image" Target="../media/image22.svg"/><Relationship Id="rId4" Type="http://schemas.openxmlformats.org/officeDocument/2006/relationships/image" Target="../media/image21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19809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4263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475" y="1357015"/>
            <a:ext cx="6296860" cy="29532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IoT-Based Machine Health Monitoring and Predictive Maintenance System for Early Fault Detection</a:t>
            </a:r>
            <a:endParaRPr lang="en-US" sz="3700" dirty="0"/>
          </a:p>
        </p:txBody>
      </p:sp>
      <p:sp>
        <p:nvSpPr>
          <p:cNvPr id="5" name="Text 2"/>
          <p:cNvSpPr/>
          <p:nvPr/>
        </p:nvSpPr>
        <p:spPr>
          <a:xfrm>
            <a:off x="661475" y="4593729"/>
            <a:ext cx="6296860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continuous, intelligent system for monitoring industrial machine health, enabling early fault detection and predictive maintenance — at the heart of Industry 4.0.</a:t>
            </a:r>
            <a:endParaRPr lang="en-US" sz="14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2315376-8B44-9D38-0A2D-0FA9EDA4EB27}"/>
              </a:ext>
            </a:extLst>
          </p:cNvPr>
          <p:cNvSpPr txBox="1"/>
          <p:nvPr/>
        </p:nvSpPr>
        <p:spPr>
          <a:xfrm>
            <a:off x="9525886" y="6214725"/>
            <a:ext cx="26661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IN" dirty="0"/>
              <a:t>KORUVADA TARUNKUMAR</a:t>
            </a:r>
            <a:br>
              <a:rPr lang="en-IN" dirty="0"/>
            </a:br>
            <a:r>
              <a:rPr lang="en-IN" dirty="0"/>
              <a:t>323129520078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671" y="487263"/>
            <a:ext cx="4412445" cy="58834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62868"/>
            <a:ext cx="6296860" cy="49837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1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Problem Statement</a:t>
            </a:r>
            <a:endParaRPr lang="en-US" sz="3100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1263055"/>
            <a:ext cx="6296860" cy="1157089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5488049" y="144154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Unexpected Failures</a:t>
            </a:r>
            <a:endParaRPr lang="en-US" sz="1550" dirty="0"/>
          </a:p>
        </p:txBody>
      </p:sp>
      <p:sp>
        <p:nvSpPr>
          <p:cNvPr id="7" name="Text 3"/>
          <p:cNvSpPr/>
          <p:nvPr/>
        </p:nvSpPr>
        <p:spPr>
          <a:xfrm>
            <a:off x="5488049" y="177135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Machine breakdowns cause production delays, increased maintenance costs, and significant equipment downtime.</a:t>
            </a:r>
            <a:endParaRPr lang="en-US" sz="1250" dirty="0"/>
          </a:p>
        </p:txBody>
      </p:sp>
      <p:pic>
        <p:nvPicPr>
          <p:cNvPr id="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2554684"/>
            <a:ext cx="6296860" cy="1157089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8049" y="273317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Reactive Maintenance</a:t>
            </a:r>
            <a:endParaRPr lang="en-US" sz="1550" dirty="0"/>
          </a:p>
        </p:txBody>
      </p:sp>
      <p:sp>
        <p:nvSpPr>
          <p:cNvPr id="10" name="Text 5"/>
          <p:cNvSpPr/>
          <p:nvPr/>
        </p:nvSpPr>
        <p:spPr>
          <a:xfrm>
            <a:off x="5488049" y="306298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Traditional approaches rely on periodic inspections or repairs after failure — not before it.</a:t>
            </a:r>
            <a:endParaRPr lang="en-US" sz="1250" dirty="0"/>
          </a:p>
        </p:txBody>
      </p:sp>
      <p:pic>
        <p:nvPicPr>
          <p:cNvPr id="1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3846314"/>
            <a:ext cx="6296860" cy="1157089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5488049" y="4024809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Fault Blindness</a:t>
            </a:r>
            <a:endParaRPr lang="en-US" sz="1550" dirty="0"/>
          </a:p>
        </p:txBody>
      </p:sp>
      <p:sp>
        <p:nvSpPr>
          <p:cNvPr id="13" name="Text 7"/>
          <p:cNvSpPr/>
          <p:nvPr/>
        </p:nvSpPr>
        <p:spPr>
          <a:xfrm>
            <a:off x="5488049" y="4354612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Existing methods make it difficult to identify developing faults before they cause equipment failure.</a:t>
            </a:r>
            <a:endParaRPr lang="en-US" sz="1250" dirty="0"/>
          </a:p>
        </p:txBody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233360" y="5137944"/>
            <a:ext cx="6296860" cy="115708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5488049" y="5316438"/>
            <a:ext cx="5863681" cy="249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Industry Need</a:t>
            </a:r>
            <a:endParaRPr lang="en-US" sz="1550" dirty="0"/>
          </a:p>
        </p:txBody>
      </p:sp>
      <p:sp>
        <p:nvSpPr>
          <p:cNvPr id="16" name="Text 9"/>
          <p:cNvSpPr/>
          <p:nvPr/>
        </p:nvSpPr>
        <p:spPr>
          <a:xfrm>
            <a:off x="5488049" y="5646241"/>
            <a:ext cx="5863681" cy="4702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Industries require intelligent, continuous machine-condition monitoring to stay competitive and reliable.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931962"/>
            <a:ext cx="10868745" cy="5906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Proposed Solution</a:t>
            </a:r>
            <a:endParaRPr lang="en-US" sz="37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2113855"/>
            <a:ext cx="3504219" cy="350430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633201" y="1976140"/>
            <a:ext cx="6903269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 </a:t>
            </a: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Industrial IoT-based machine health monitoring and predictive maintenance system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that continuously collects machine operating data using IoT sensors and predictive analytics.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4633201" y="3053457"/>
            <a:ext cx="6903269" cy="1407914"/>
          </a:xfrm>
          <a:prstGeom prst="rect">
            <a:avLst/>
          </a:prstGeom>
          <a:noFill/>
          <a:ln/>
        </p:spPr>
        <p:txBody>
          <a:bodyPr wrap="square" lIns="0" tIns="75608" rIns="0" bIns="0" rtlCol="0" anchor="t">
            <a:normAutofit/>
          </a:bodyPr>
          <a:lstStyle/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collection of machine operating data via IoT sensors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Predictive analytics to identify abnormal machine behavior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platform for monitoring machine health across all equipment</a:t>
            </a:r>
            <a:endParaRPr lang="en-US" sz="1450" dirty="0"/>
          </a:p>
          <a:p>
            <a:pPr marL="294640" indent="-294640" algn="l">
              <a:lnSpc>
                <a:spcPct val="133000"/>
              </a:lnSpc>
              <a:buSzPct val="100000"/>
              <a:buChar char="•"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Empowers maintenance teams to act </a:t>
            </a:r>
            <a:r>
              <a:rPr lang="en-US" sz="145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before</a:t>
            </a: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major failures occur</a:t>
            </a:r>
            <a:endParaRPr lang="en-US" sz="1450" dirty="0"/>
          </a:p>
        </p:txBody>
      </p:sp>
      <p:sp>
        <p:nvSpPr>
          <p:cNvPr id="6" name="Shape 3"/>
          <p:cNvSpPr/>
          <p:nvPr/>
        </p:nvSpPr>
        <p:spPr>
          <a:xfrm>
            <a:off x="4633201" y="4673997"/>
            <a:ext cx="6903269" cy="1039416"/>
          </a:xfrm>
          <a:prstGeom prst="roundRect">
            <a:avLst>
              <a:gd name="adj" fmla="val 2728"/>
            </a:avLst>
          </a:prstGeom>
          <a:solidFill>
            <a:srgbClr val="D4F7EC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208" y="4960739"/>
            <a:ext cx="236234" cy="18901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247449" y="4891286"/>
            <a:ext cx="6100015" cy="6048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shifts maintenance from reactive to proactive — detecting faults early and preventing costly breakdowns.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22982"/>
            <a:ext cx="10868745" cy="4060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5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System Components</a:t>
            </a:r>
            <a:endParaRPr lang="en-US" sz="2550" dirty="0"/>
          </a:p>
        </p:txBody>
      </p:sp>
      <p:sp>
        <p:nvSpPr>
          <p:cNvPr id="3" name="Text 1"/>
          <p:cNvSpPr/>
          <p:nvPr/>
        </p:nvSpPr>
        <p:spPr>
          <a:xfrm>
            <a:off x="661475" y="1107579"/>
            <a:ext cx="11478330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system integrates eight key hardware and software components working in concert to deliver continuous machine health intelligence.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661475" y="1383506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91349" y="1513384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8503" y="1620540"/>
            <a:ext cx="175414" cy="17541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91349" y="1992511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Vibration Sensors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91349" y="2249091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mechanical imbalance and bearing faults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40495" y="1383506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6270369" y="1513384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7522" y="1620540"/>
            <a:ext cx="175414" cy="17541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270369" y="1992511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Sensors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6270369" y="2249091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Monitor thermal behavior and overheating risks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61475" y="2643684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15" name="Shape 11"/>
          <p:cNvSpPr/>
          <p:nvPr/>
        </p:nvSpPr>
        <p:spPr>
          <a:xfrm>
            <a:off x="791349" y="2773561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98503" y="2880717"/>
            <a:ext cx="175414" cy="17541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1349" y="3252688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Current Sensors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791349" y="3509268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Track electrical load and motor performance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40495" y="2643684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20" name="Shape 15"/>
          <p:cNvSpPr/>
          <p:nvPr/>
        </p:nvSpPr>
        <p:spPr>
          <a:xfrm>
            <a:off x="6270369" y="2773561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77522" y="2880717"/>
            <a:ext cx="175414" cy="17541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270369" y="3252688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IoT Communication Modules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6270369" y="3509268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Transmit sensor data reliably to the cloud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661475" y="3903861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25" name="Shape 19"/>
          <p:cNvSpPr/>
          <p:nvPr/>
        </p:nvSpPr>
        <p:spPr>
          <a:xfrm>
            <a:off x="791349" y="4033738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8503" y="4140895"/>
            <a:ext cx="175414" cy="17541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91349" y="4512866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Cloud Connectivity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791349" y="4769445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Store and process large volumes of machine data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6140495" y="3903861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30" name="Shape 23"/>
          <p:cNvSpPr/>
          <p:nvPr/>
        </p:nvSpPr>
        <p:spPr>
          <a:xfrm>
            <a:off x="6270369" y="4033738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377522" y="4140895"/>
            <a:ext cx="175414" cy="175419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6270369" y="4512866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Monitoring Platform</a:t>
            </a:r>
            <a:endParaRPr lang="en-US" sz="1250" dirty="0"/>
          </a:p>
        </p:txBody>
      </p:sp>
      <p:sp>
        <p:nvSpPr>
          <p:cNvPr id="33" name="Text 25"/>
          <p:cNvSpPr/>
          <p:nvPr/>
        </p:nvSpPr>
        <p:spPr>
          <a:xfrm>
            <a:off x="6270369" y="4769445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Centralized visibility into all machine health metrics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661475" y="5164038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35" name="Shape 27"/>
          <p:cNvSpPr/>
          <p:nvPr/>
        </p:nvSpPr>
        <p:spPr>
          <a:xfrm>
            <a:off x="791349" y="5293916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98503" y="5401072"/>
            <a:ext cx="175414" cy="175419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791349" y="5773043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Analytics</a:t>
            </a:r>
            <a:endParaRPr lang="en-US" sz="1250" dirty="0"/>
          </a:p>
        </p:txBody>
      </p:sp>
      <p:sp>
        <p:nvSpPr>
          <p:cNvPr id="38" name="Text 29"/>
          <p:cNvSpPr/>
          <p:nvPr/>
        </p:nvSpPr>
        <p:spPr>
          <a:xfrm>
            <a:off x="791349" y="6029623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Analyze patterns and forecast potential faults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140495" y="5164038"/>
            <a:ext cx="5389725" cy="1170880"/>
          </a:xfrm>
          <a:prstGeom prst="roundRect">
            <a:avLst>
              <a:gd name="adj" fmla="val 1665"/>
            </a:avLst>
          </a:prstGeom>
          <a:solidFill>
            <a:srgbClr val="F2EEEE"/>
          </a:solidFill>
          <a:ln/>
        </p:spPr>
      </p:sp>
      <p:sp>
        <p:nvSpPr>
          <p:cNvPr id="40" name="Shape 31"/>
          <p:cNvSpPr/>
          <p:nvPr/>
        </p:nvSpPr>
        <p:spPr>
          <a:xfrm>
            <a:off x="6270369" y="5293916"/>
            <a:ext cx="389821" cy="389830"/>
          </a:xfrm>
          <a:prstGeom prst="ellipse">
            <a:avLst/>
          </a:prstGeom>
          <a:solidFill>
            <a:srgbClr val="1C9770"/>
          </a:solidFill>
          <a:ln/>
        </p:spPr>
      </p:sp>
      <p:pic>
        <p:nvPicPr>
          <p:cNvPr id="41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377522" y="5401072"/>
            <a:ext cx="175414" cy="175419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6270369" y="5773043"/>
            <a:ext cx="5129977" cy="2030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Secure User Interface</a:t>
            </a:r>
            <a:endParaRPr lang="en-US" sz="1250" dirty="0"/>
          </a:p>
        </p:txBody>
      </p:sp>
      <p:sp>
        <p:nvSpPr>
          <p:cNvPr id="43" name="Text 33"/>
          <p:cNvSpPr/>
          <p:nvPr/>
        </p:nvSpPr>
        <p:spPr>
          <a:xfrm>
            <a:off x="6270369" y="6029623"/>
            <a:ext cx="5129977" cy="17541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0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Role-based access for maintenance teams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Working Process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221" y="1175445"/>
            <a:ext cx="10779153" cy="4648299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431583" y="4942252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 &amp; Alert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1431583" y="3866246"/>
            <a:ext cx="2445408" cy="305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Process in Cloud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1431583" y="2801109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Transmit Data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1431583" y="1725102"/>
            <a:ext cx="2445408" cy="3056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FFFFFF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Collect Data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661475" y="5943302"/>
            <a:ext cx="10868745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end-to-end pipeline moves from raw sensor readings to actionable maintenance alerts — continuously and automatically — ensuring faults are caught at the earliest possible stage before they escalate into costly failures.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63265"/>
            <a:ext cx="10868745" cy="461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Health Monitoring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661475" y="1313061"/>
            <a:ext cx="6938590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the System Continuously Tracks</a:t>
            </a:r>
            <a:endParaRPr lang="en-US" sz="14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1678087"/>
            <a:ext cx="221451" cy="22145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1285" y="1673523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Real-Time Vibration Levels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1141285" y="201949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Detect mechanical anomalies as they develop</a:t>
            </a:r>
            <a:endParaRPr lang="en-US" sz="11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2465090"/>
            <a:ext cx="221451" cy="22145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141285" y="2460526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Temperature Trends</a:t>
            </a:r>
            <a:endParaRPr lang="en-US" sz="1450" dirty="0"/>
          </a:p>
        </p:txBody>
      </p:sp>
      <p:sp>
        <p:nvSpPr>
          <p:cNvPr id="9" name="Text 5"/>
          <p:cNvSpPr/>
          <p:nvPr/>
        </p:nvSpPr>
        <p:spPr>
          <a:xfrm>
            <a:off x="1141285" y="2806502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Identify overheating patterns over time</a:t>
            </a:r>
            <a:endParaRPr lang="en-US" sz="11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3252093"/>
            <a:ext cx="221451" cy="22145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141285" y="3247529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Electrical / Current Behavior</a:t>
            </a:r>
            <a:endParaRPr lang="en-US" sz="1450" dirty="0"/>
          </a:p>
        </p:txBody>
      </p:sp>
      <p:sp>
        <p:nvSpPr>
          <p:cNvPr id="12" name="Text 7"/>
          <p:cNvSpPr/>
          <p:nvPr/>
        </p:nvSpPr>
        <p:spPr>
          <a:xfrm>
            <a:off x="1141285" y="3593505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Spot motor load irregularities instantly</a:t>
            </a:r>
            <a:endParaRPr lang="en-US" sz="11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4039096"/>
            <a:ext cx="221451" cy="221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41285" y="4034532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Machine Health Status</a:t>
            </a:r>
            <a:endParaRPr lang="en-US" sz="1450" dirty="0"/>
          </a:p>
        </p:txBody>
      </p:sp>
      <p:sp>
        <p:nvSpPr>
          <p:cNvPr id="15" name="Text 9"/>
          <p:cNvSpPr/>
          <p:nvPr/>
        </p:nvSpPr>
        <p:spPr>
          <a:xfrm>
            <a:off x="1141285" y="4380508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Overall condition score per asset</a:t>
            </a:r>
            <a:endParaRPr lang="en-US" sz="1150" dirty="0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4826099"/>
            <a:ext cx="221451" cy="22145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41285" y="4821535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Equipment Performance &amp; Maintenance History</a:t>
            </a:r>
            <a:endParaRPr lang="en-US" sz="1450" dirty="0"/>
          </a:p>
        </p:txBody>
      </p:sp>
      <p:sp>
        <p:nvSpPr>
          <p:cNvPr id="18" name="Text 11"/>
          <p:cNvSpPr/>
          <p:nvPr/>
        </p:nvSpPr>
        <p:spPr>
          <a:xfrm>
            <a:off x="1141285" y="5167511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Trend analysis and historical fault records</a:t>
            </a:r>
            <a:endParaRPr lang="en-US" sz="115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16838" y="5613102"/>
            <a:ext cx="221451" cy="221456"/>
          </a:xfrm>
          <a:prstGeom prst="rect">
            <a:avLst/>
          </a:prstGeom>
        </p:spPr>
      </p:pic>
      <p:sp>
        <p:nvSpPr>
          <p:cNvPr id="20" name="Text 12"/>
          <p:cNvSpPr/>
          <p:nvPr/>
        </p:nvSpPr>
        <p:spPr>
          <a:xfrm>
            <a:off x="1141285" y="5608538"/>
            <a:ext cx="6458781" cy="2306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Fault Alerts</a:t>
            </a:r>
            <a:endParaRPr lang="en-US" sz="1450" dirty="0"/>
          </a:p>
        </p:txBody>
      </p:sp>
      <p:sp>
        <p:nvSpPr>
          <p:cNvPr id="21" name="Text 13"/>
          <p:cNvSpPr/>
          <p:nvPr/>
        </p:nvSpPr>
        <p:spPr>
          <a:xfrm>
            <a:off x="1141285" y="5954514"/>
            <a:ext cx="6458781" cy="2103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Immediate notifications when thresholds are breached</a:t>
            </a:r>
            <a:endParaRPr lang="en-US" sz="1150" dirty="0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66570" y="1488579"/>
            <a:ext cx="3569901" cy="3569990"/>
          </a:xfrm>
          <a:prstGeom prst="rect">
            <a:avLst/>
          </a:prstGeom>
        </p:spPr>
      </p:pic>
      <p:sp>
        <p:nvSpPr>
          <p:cNvPr id="23" name="Text 14"/>
          <p:cNvSpPr/>
          <p:nvPr/>
        </p:nvSpPr>
        <p:spPr>
          <a:xfrm>
            <a:off x="7966570" y="5188347"/>
            <a:ext cx="3569901" cy="8413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9000"/>
              </a:lnSpc>
              <a:buNone/>
            </a:pPr>
            <a:r>
              <a:rPr lang="en-US" sz="11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monitoring creates a live picture of machine condition, enabling teams to identify abnormal conditions the moment they emerge — not after damage has occurred.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454" y="506909"/>
            <a:ext cx="4382879" cy="5844084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851396"/>
            <a:ext cx="6296860" cy="11812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7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Maintenance and Early Fault Detection</a:t>
            </a:r>
            <a:endParaRPr lang="en-US" sz="3700" dirty="0"/>
          </a:p>
        </p:txBody>
      </p:sp>
      <p:sp>
        <p:nvSpPr>
          <p:cNvPr id="5" name="Shape 2"/>
          <p:cNvSpPr/>
          <p:nvPr/>
        </p:nvSpPr>
        <p:spPr>
          <a:xfrm>
            <a:off x="5233360" y="2316163"/>
            <a:ext cx="6296860" cy="3690342"/>
          </a:xfrm>
          <a:prstGeom prst="roundRect">
            <a:avLst>
              <a:gd name="adj" fmla="val 768"/>
            </a:avLst>
          </a:prstGeom>
          <a:solidFill>
            <a:srgbClr val="F2EEEE"/>
          </a:solidFill>
          <a:ln/>
        </p:spPr>
      </p:sp>
      <p:sp>
        <p:nvSpPr>
          <p:cNvPr id="6" name="Shape 3"/>
          <p:cNvSpPr/>
          <p:nvPr/>
        </p:nvSpPr>
        <p:spPr>
          <a:xfrm>
            <a:off x="5233360" y="2316163"/>
            <a:ext cx="3148430" cy="1996380"/>
          </a:xfrm>
          <a:custGeom>
            <a:avLst/>
            <a:gdLst/>
            <a:ahLst/>
            <a:cxnLst/>
            <a:rect l="l" t="t" r="r" b="b"/>
            <a:pathLst>
              <a:path w="3148430" h="1996380">
                <a:moveTo>
                  <a:pt x="23627" y="0"/>
                </a:moveTo>
                <a:lnTo>
                  <a:pt x="3148430" y="0"/>
                </a:lnTo>
                <a:lnTo>
                  <a:pt x="3148430" y="1996380"/>
                </a:lnTo>
                <a:lnTo>
                  <a:pt x="0" y="1996380"/>
                </a:lnTo>
                <a:lnTo>
                  <a:pt x="0" y="23628"/>
                </a:lnTo>
                <a:arcTo wR="23627" hR="23628" stAng="10800000" swAng="5400000"/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422367" y="25051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Reactive Maintenance</a:t>
            </a:r>
            <a:endParaRPr lang="en-US" sz="1850" dirty="0"/>
          </a:p>
        </p:txBody>
      </p:sp>
      <p:sp>
        <p:nvSpPr>
          <p:cNvPr id="8" name="Text 5"/>
          <p:cNvSpPr/>
          <p:nvPr/>
        </p:nvSpPr>
        <p:spPr>
          <a:xfrm>
            <a:off x="5422367" y="2913856"/>
            <a:ext cx="277041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Fix after failure. High costs, unplanned downtime, and production loss.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8381790" y="2316163"/>
            <a:ext cx="3148430" cy="1996380"/>
          </a:xfrm>
          <a:custGeom>
            <a:avLst/>
            <a:gdLst/>
            <a:ahLst/>
            <a:cxnLst/>
            <a:rect l="l" t="t" r="r" b="b"/>
            <a:pathLst>
              <a:path w="3148430" h="1996380">
                <a:moveTo>
                  <a:pt x="0" y="0"/>
                </a:moveTo>
                <a:lnTo>
                  <a:pt x="3124803" y="0"/>
                </a:lnTo>
                <a:arcTo wR="23627" hR="23628" stAng="16200000" swAng="5400000"/>
                <a:lnTo>
                  <a:pt x="3148430" y="1996380"/>
                </a:lnTo>
                <a:lnTo>
                  <a:pt x="0" y="1996380"/>
                </a:lnTo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0" name="Shape 7"/>
          <p:cNvSpPr/>
          <p:nvPr/>
        </p:nvSpPr>
        <p:spPr>
          <a:xfrm>
            <a:off x="8381790" y="2316163"/>
            <a:ext cx="25399" cy="1996380"/>
          </a:xfrm>
          <a:prstGeom prst="roundRect">
            <a:avLst>
              <a:gd name="adj" fmla="val 50001"/>
            </a:avLst>
          </a:prstGeom>
          <a:solidFill>
            <a:srgbClr val="D8D4D4"/>
          </a:solidFill>
          <a:ln/>
        </p:spPr>
      </p:sp>
      <p:sp>
        <p:nvSpPr>
          <p:cNvPr id="11" name="Text 8"/>
          <p:cNvSpPr/>
          <p:nvPr/>
        </p:nvSpPr>
        <p:spPr>
          <a:xfrm>
            <a:off x="8570797" y="2505174"/>
            <a:ext cx="277041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Periodic Maintenance</a:t>
            </a:r>
            <a:endParaRPr lang="en-US" sz="1850" dirty="0"/>
          </a:p>
        </p:txBody>
      </p:sp>
      <p:sp>
        <p:nvSpPr>
          <p:cNvPr id="12" name="Text 9"/>
          <p:cNvSpPr/>
          <p:nvPr/>
        </p:nvSpPr>
        <p:spPr>
          <a:xfrm>
            <a:off x="8570797" y="2913856"/>
            <a:ext cx="2770416" cy="12096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Scheduled inspections regardless of actual machine condition. Inefficient and often too late.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233360" y="4312543"/>
            <a:ext cx="6296860" cy="1693962"/>
          </a:xfrm>
          <a:custGeom>
            <a:avLst/>
            <a:gdLst/>
            <a:ahLst/>
            <a:cxnLst/>
            <a:rect l="l" t="t" r="r" b="b"/>
            <a:pathLst>
              <a:path w="6296860" h="1693962">
                <a:moveTo>
                  <a:pt x="0" y="0"/>
                </a:moveTo>
                <a:lnTo>
                  <a:pt x="6296860" y="0"/>
                </a:lnTo>
                <a:lnTo>
                  <a:pt x="6296860" y="1670334"/>
                </a:lnTo>
                <a:arcTo wR="23627" hR="23628" stAng="0" swAng="5400000"/>
                <a:lnTo>
                  <a:pt x="23627" y="1693962"/>
                </a:lnTo>
                <a:arcTo wR="23627" hR="23628" stAng="5400000" swAng="5400000"/>
                <a:lnTo>
                  <a:pt x="0" y="0"/>
                </a:lnTo>
                <a:close/>
              </a:path>
            </a:pathLst>
          </a:custGeom>
          <a:solidFill>
            <a:srgbClr val="F2EEEE"/>
          </a:solidFill>
          <a:ln/>
        </p:spPr>
      </p:sp>
      <p:sp>
        <p:nvSpPr>
          <p:cNvPr id="14" name="Shape 11"/>
          <p:cNvSpPr/>
          <p:nvPr/>
        </p:nvSpPr>
        <p:spPr>
          <a:xfrm>
            <a:off x="5233360" y="4312543"/>
            <a:ext cx="6296860" cy="25400"/>
          </a:xfrm>
          <a:prstGeom prst="roundRect">
            <a:avLst>
              <a:gd name="adj" fmla="val 49999"/>
            </a:avLst>
          </a:prstGeom>
          <a:solidFill>
            <a:srgbClr val="D8D4D4"/>
          </a:solidFill>
          <a:ln/>
        </p:spPr>
      </p:sp>
      <p:sp>
        <p:nvSpPr>
          <p:cNvPr id="15" name="Text 12"/>
          <p:cNvSpPr/>
          <p:nvPr/>
        </p:nvSpPr>
        <p:spPr>
          <a:xfrm>
            <a:off x="5422367" y="4501555"/>
            <a:ext cx="5918846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1C9770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Predictive Maintenance ✓</a:t>
            </a:r>
            <a:endParaRPr lang="en-US" sz="1850" dirty="0"/>
          </a:p>
        </p:txBody>
      </p:sp>
      <p:sp>
        <p:nvSpPr>
          <p:cNvPr id="16" name="Text 13"/>
          <p:cNvSpPr/>
          <p:nvPr/>
        </p:nvSpPr>
        <p:spPr>
          <a:xfrm>
            <a:off x="5422367" y="4910237"/>
            <a:ext cx="5918846" cy="907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45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Abnormal sensor patterns trigger early warnings. Teams schedule servicing before breakdowns occur — maximizing reliability and efficiency.</a:t>
            </a:r>
            <a:endParaRPr lang="en-US" sz="14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519807"/>
            <a:ext cx="10868745" cy="295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8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Dashboard and Analytics</a:t>
            </a:r>
            <a:endParaRPr lang="en-US" sz="1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75" y="939006"/>
            <a:ext cx="5874000" cy="587414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772403" y="3200003"/>
            <a:ext cx="4764068" cy="1476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What Maintenance Teams See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6772403" y="3394869"/>
            <a:ext cx="4764068" cy="892671"/>
          </a:xfrm>
          <a:prstGeom prst="rect">
            <a:avLst/>
          </a:prstGeom>
          <a:noFill/>
          <a:ln/>
        </p:spPr>
        <p:txBody>
          <a:bodyPr wrap="square" lIns="0" tIns="37804" rIns="0" bIns="0" rtlCol="0" anchor="t">
            <a:normAutofit/>
          </a:bodyPr>
          <a:lstStyle/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Machine health status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condition per asset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Vibration levels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real-time waveform data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Temperature trends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historical and current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Maintenance history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full service log per machine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Fault alerts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prioritized notifications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Equipment performance analytics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KPIs and trends</a:t>
            </a:r>
            <a:endParaRPr lang="en-US" sz="700" dirty="0"/>
          </a:p>
          <a:p>
            <a:pPr marL="142240" indent="-142240" algn="l">
              <a:lnSpc>
                <a:spcPct val="100000"/>
              </a:lnSpc>
              <a:buSzPct val="100000"/>
              <a:buChar char="•"/>
            </a:pPr>
            <a:r>
              <a:rPr lang="en-US" sz="7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machine information</a:t>
            </a: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 — live operational data</a:t>
            </a:r>
            <a:endParaRPr lang="en-US" sz="700" dirty="0"/>
          </a:p>
        </p:txBody>
      </p:sp>
      <p:sp>
        <p:nvSpPr>
          <p:cNvPr id="6" name="Text 3"/>
          <p:cNvSpPr/>
          <p:nvPr/>
        </p:nvSpPr>
        <p:spPr>
          <a:xfrm>
            <a:off x="6772403" y="4330005"/>
            <a:ext cx="4764068" cy="2268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secure, user-friendly interface consolidates all machine intelligence in one place — enabling maintenance teams to make fast, informed decisions with confidence.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475" y="662880"/>
            <a:ext cx="10868745" cy="4891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0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Benefits and Applications</a:t>
            </a:r>
            <a:endParaRPr lang="en-US" sz="3050" dirty="0"/>
          </a:p>
        </p:txBody>
      </p:sp>
      <p:sp>
        <p:nvSpPr>
          <p:cNvPr id="3" name="Text 1"/>
          <p:cNvSpPr/>
          <p:nvPr/>
        </p:nvSpPr>
        <p:spPr>
          <a:xfrm>
            <a:off x="661475" y="1475978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Major Benefits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661475" y="1866305"/>
            <a:ext cx="25569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5" name="Text 3"/>
          <p:cNvSpPr/>
          <p:nvPr/>
        </p:nvSpPr>
        <p:spPr>
          <a:xfrm>
            <a:off x="817939" y="2022773"/>
            <a:ext cx="2243974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Unexpected Downtime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17939" y="2641501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Faults caught early prevent unplanned stoppages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47954" y="1866305"/>
            <a:ext cx="25570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8" name="Text 6"/>
          <p:cNvSpPr/>
          <p:nvPr/>
        </p:nvSpPr>
        <p:spPr>
          <a:xfrm>
            <a:off x="3504418" y="2022773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↓ Maintenance Costs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504418" y="2396927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Targeted servicing replaces blanket periodic checks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61475" y="3385344"/>
            <a:ext cx="2556902" cy="1144885"/>
          </a:xfrm>
          <a:prstGeom prst="roundRect">
            <a:avLst>
              <a:gd name="adj" fmla="val 2051"/>
            </a:avLst>
          </a:prstGeom>
          <a:solidFill>
            <a:srgbClr val="F2EEEE"/>
          </a:solidFill>
          <a:ln/>
        </p:spPr>
      </p:sp>
      <p:sp>
        <p:nvSpPr>
          <p:cNvPr id="11" name="Text 9"/>
          <p:cNvSpPr/>
          <p:nvPr/>
        </p:nvSpPr>
        <p:spPr>
          <a:xfrm>
            <a:off x="817939" y="3541812"/>
            <a:ext cx="22439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↑ Equipment Reliability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17939" y="3915966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Continuous health tracking extends asset life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347954" y="3385344"/>
            <a:ext cx="2557002" cy="1144885"/>
          </a:xfrm>
          <a:prstGeom prst="roundRect">
            <a:avLst>
              <a:gd name="adj" fmla="val 2051"/>
            </a:avLst>
          </a:prstGeom>
          <a:solidFill>
            <a:srgbClr val="F2EEEE"/>
          </a:solidFill>
          <a:ln/>
        </p:spPr>
      </p:sp>
      <p:sp>
        <p:nvSpPr>
          <p:cNvPr id="14" name="Text 12"/>
          <p:cNvSpPr/>
          <p:nvPr/>
        </p:nvSpPr>
        <p:spPr>
          <a:xfrm>
            <a:off x="3504418" y="3541812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↑ Productivity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504418" y="3915966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Less downtime means more operational hours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61475" y="4659809"/>
            <a:ext cx="25569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17" name="Text 15"/>
          <p:cNvSpPr/>
          <p:nvPr/>
        </p:nvSpPr>
        <p:spPr>
          <a:xfrm>
            <a:off x="817939" y="4816277"/>
            <a:ext cx="2243974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⚡</a:t>
            </a: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Faster Fault Detection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17939" y="5435005"/>
            <a:ext cx="22439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Real-time alerts at the earliest sign of anomaly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347954" y="4659809"/>
            <a:ext cx="2557002" cy="1389459"/>
          </a:xfrm>
          <a:prstGeom prst="roundRect">
            <a:avLst>
              <a:gd name="adj" fmla="val 1690"/>
            </a:avLst>
          </a:prstGeom>
          <a:solidFill>
            <a:srgbClr val="F2EEEE"/>
          </a:solidFill>
          <a:ln/>
        </p:spPr>
      </p:sp>
      <p:sp>
        <p:nvSpPr>
          <p:cNvPr id="20" name="Text 18"/>
          <p:cNvSpPr/>
          <p:nvPr/>
        </p:nvSpPr>
        <p:spPr>
          <a:xfrm>
            <a:off x="3504418" y="4816277"/>
            <a:ext cx="2244074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📅</a:t>
            </a: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 Timely Scheduling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3504418" y="5190430"/>
            <a:ext cx="2244074" cy="4577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2000"/>
              </a:lnSpc>
              <a:buNone/>
            </a:pPr>
            <a:r>
              <a:rPr lang="en-US" sz="12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Plan maintenance windows without disrupting production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293089" y="1475978"/>
            <a:ext cx="524348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Suitable Application Areas</a:t>
            </a:r>
            <a:endParaRPr lang="en-US" sz="1500" dirty="0"/>
          </a:p>
        </p:txBody>
      </p:sp>
      <p:pic>
        <p:nvPicPr>
          <p:cNvPr id="23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293089" y="1866305"/>
            <a:ext cx="391309" cy="391319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6846419" y="1866305"/>
            <a:ext cx="1987401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Manufacturing Industries</a:t>
            </a:r>
            <a:endParaRPr lang="en-US" sz="1500" dirty="0"/>
          </a:p>
        </p:txBody>
      </p:sp>
      <p:pic>
        <p:nvPicPr>
          <p:cNvPr id="25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95840" y="1866305"/>
            <a:ext cx="391309" cy="391319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9549169" y="1866305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Production Plants</a:t>
            </a:r>
            <a:endParaRPr lang="en-US" sz="1500" dirty="0"/>
          </a:p>
        </p:txBody>
      </p:sp>
      <p:pic>
        <p:nvPicPr>
          <p:cNvPr id="27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93089" y="2614712"/>
            <a:ext cx="391309" cy="391319"/>
          </a:xfrm>
          <a:prstGeom prst="rect">
            <a:avLst/>
          </a:prstGeom>
        </p:spPr>
      </p:pic>
      <p:sp>
        <p:nvSpPr>
          <p:cNvPr id="28" name="Text 23"/>
          <p:cNvSpPr/>
          <p:nvPr/>
        </p:nvSpPr>
        <p:spPr>
          <a:xfrm>
            <a:off x="6846419" y="2614712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Warehouses</a:t>
            </a:r>
            <a:endParaRPr lang="en-US" sz="1500" dirty="0"/>
          </a:p>
        </p:txBody>
      </p:sp>
      <p:pic>
        <p:nvPicPr>
          <p:cNvPr id="29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995840" y="2614712"/>
            <a:ext cx="391309" cy="391319"/>
          </a:xfrm>
          <a:prstGeom prst="rect">
            <a:avLst/>
          </a:prstGeom>
        </p:spPr>
      </p:pic>
      <p:sp>
        <p:nvSpPr>
          <p:cNvPr id="30" name="Text 24"/>
          <p:cNvSpPr/>
          <p:nvPr/>
        </p:nvSpPr>
        <p:spPr>
          <a:xfrm>
            <a:off x="9549169" y="2614712"/>
            <a:ext cx="1987401" cy="2445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Energy Facilities</a:t>
            </a:r>
            <a:endParaRPr lang="en-US" sz="1500" dirty="0"/>
          </a:p>
        </p:txBody>
      </p:sp>
      <p:pic>
        <p:nvPicPr>
          <p:cNvPr id="3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293089" y="3265289"/>
            <a:ext cx="391309" cy="391319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6846419" y="3265289"/>
            <a:ext cx="1987401" cy="4891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50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Industrial Automation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1886" cy="6858000"/>
          </a:xfrm>
          <a:prstGeom prst="rect">
            <a:avLst/>
          </a:prstGeom>
          <a:solidFill>
            <a:srgbClr val="F2EEEE"/>
          </a:solidFill>
          <a:ln/>
        </p:spPr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40" y="475456"/>
            <a:ext cx="4430205" cy="590708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233360" y="599976"/>
            <a:ext cx="6296860" cy="44301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030303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Conclusion and Future Impact</a:t>
            </a:r>
            <a:endParaRPr lang="en-US" sz="2750" dirty="0"/>
          </a:p>
        </p:txBody>
      </p:sp>
      <p:sp>
        <p:nvSpPr>
          <p:cNvPr id="5" name="Text 2"/>
          <p:cNvSpPr/>
          <p:nvPr/>
        </p:nvSpPr>
        <p:spPr>
          <a:xfrm>
            <a:off x="5233360" y="1202432"/>
            <a:ext cx="6296860" cy="7937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The Industrial IoT-based machine health monitoring and predictive maintenance system represents a fundamental shift in how industries manage equipment reliability. By combining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continuous monitoring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predictive analytics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and </a:t>
            </a:r>
            <a:r>
              <a:rPr lang="en-US" sz="1100" b="1" dirty="0">
                <a:solidFill>
                  <a:srgbClr val="464646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fault detection</a:t>
            </a: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, the system minimizes unexpected breakdowns and supports timely, targeted maintenance.</a:t>
            </a:r>
            <a:endParaRPr lang="en-US" sz="1100" dirty="0"/>
          </a:p>
        </p:txBody>
      </p:sp>
      <p:sp>
        <p:nvSpPr>
          <p:cNvPr id="6" name="Shape 3"/>
          <p:cNvSpPr/>
          <p:nvPr/>
        </p:nvSpPr>
        <p:spPr>
          <a:xfrm>
            <a:off x="5233360" y="2115741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7" name="Text 4"/>
          <p:cNvSpPr/>
          <p:nvPr/>
        </p:nvSpPr>
        <p:spPr>
          <a:xfrm>
            <a:off x="5375041" y="2257425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Reliability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5375041" y="2542580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Consistent machine health tracking ensures assets perform at their best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233360" y="2988965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0" name="Text 7"/>
          <p:cNvSpPr/>
          <p:nvPr/>
        </p:nvSpPr>
        <p:spPr>
          <a:xfrm>
            <a:off x="5375041" y="3130649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Productivity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5375041" y="3415804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Fewer unplanned stoppages translate directly into more operational output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5233360" y="3862189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3" name="Text 10"/>
          <p:cNvSpPr/>
          <p:nvPr/>
        </p:nvSpPr>
        <p:spPr>
          <a:xfrm>
            <a:off x="5375041" y="4003873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Cost Reduction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5375041" y="4289028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Intelligent maintenance scheduling eliminates wasteful reactive repairs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5233360" y="4735413"/>
            <a:ext cx="6296860" cy="766961"/>
          </a:xfrm>
          <a:prstGeom prst="roundRect">
            <a:avLst>
              <a:gd name="adj" fmla="val 2773"/>
            </a:avLst>
          </a:prstGeom>
          <a:solidFill>
            <a:srgbClr val="F2EEEE"/>
          </a:solidFill>
          <a:ln/>
        </p:spPr>
      </p:sp>
      <p:sp>
        <p:nvSpPr>
          <p:cNvPr id="16" name="Text 13"/>
          <p:cNvSpPr/>
          <p:nvPr/>
        </p:nvSpPr>
        <p:spPr>
          <a:xfrm>
            <a:off x="5375041" y="4877098"/>
            <a:ext cx="6013498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350" dirty="0">
                <a:solidFill>
                  <a:srgbClr val="464646"/>
                </a:solidFill>
                <a:latin typeface="DM Sans SemiBold" pitchFamily="34" charset="0"/>
                <a:ea typeface="DM Sans SemiBold" pitchFamily="34" charset="-122"/>
                <a:cs typeface="DM Sans SemiBold" pitchFamily="34" charset="-120"/>
              </a:rPr>
              <a:t>Industry 4.0</a:t>
            </a:r>
            <a:endParaRPr lang="en-US" sz="1350" dirty="0"/>
          </a:p>
        </p:txBody>
      </p:sp>
      <p:sp>
        <p:nvSpPr>
          <p:cNvPr id="17" name="Text 14"/>
          <p:cNvSpPr/>
          <p:nvPr/>
        </p:nvSpPr>
        <p:spPr>
          <a:xfrm>
            <a:off x="5375041" y="5162252"/>
            <a:ext cx="6013498" cy="1984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A connected, data-driven maintenance ecosystem ready for the future of manufacturing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445981" y="5741491"/>
            <a:ext cx="6084239" cy="3968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100" dirty="0">
                <a:solidFill>
                  <a:srgbClr val="464646"/>
                </a:solidFill>
                <a:latin typeface="Inter Medium" pitchFamily="34" charset="0"/>
                <a:ea typeface="Inter Medium" pitchFamily="34" charset="-122"/>
                <a:cs typeface="Inter Medium" pitchFamily="34" charset="-120"/>
              </a:rPr>
              <a:t>Transforming traditional maintenance into intelligent predictive maintenance — keeping machines running, industries thriving, and the future of Industry 4.0 within reach.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5233360" y="5621933"/>
            <a:ext cx="19050" cy="635992"/>
          </a:xfrm>
          <a:prstGeom prst="roundRect">
            <a:avLst>
              <a:gd name="adj" fmla="val 49999"/>
            </a:avLst>
          </a:prstGeom>
          <a:solidFill>
            <a:srgbClr val="1C977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750</Words>
  <Application>Microsoft Office PowerPoint</Application>
  <PresentationFormat>Widescreen</PresentationFormat>
  <Paragraphs>116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Twemoji Mozilla</vt:lpstr>
      <vt:lpstr>Inter Medium</vt:lpstr>
      <vt:lpstr>Arial</vt:lpstr>
      <vt:lpstr>DM Sans SemiBold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LOKESH VARMA</cp:lastModifiedBy>
  <cp:revision>2</cp:revision>
  <dcterms:created xsi:type="dcterms:W3CDTF">2026-08-19T06:10:02Z</dcterms:created>
  <dcterms:modified xsi:type="dcterms:W3CDTF">2026-10-04T18:16:39Z</dcterms:modified>
</cp:coreProperties>
</file>